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200" b="1">
                <a:solidFill>
                  <a:srgbClr val="1A1A1A"/>
                </a:solidFill>
                <a:latin typeface="Inter"/>
              </a:rPr>
              <a:t>Your group chat
is a knowledge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9377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6B6B6B"/>
                </a:solidFill>
                <a:latin typeface="Inter"/>
              </a:rPr>
              <a:t>An autonomous multi-agent pipeline that turns WhatsApp group chats into a searchable, classified, conversational study assistant.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76072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7F77DD"/>
                </a:solidFill>
                <a:latin typeface="Inter"/>
              </a:rPr>
              <a:t>agentic AI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57607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E6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1D9E75"/>
                </a:solidFill>
                <a:latin typeface="Inter"/>
              </a:rPr>
              <a:t>zero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57607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E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BA7517"/>
                </a:solidFill>
                <a:latin typeface="Inter"/>
              </a:rPr>
              <a:t>zero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5760720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D85A30"/>
                </a:solidFill>
                <a:latin typeface="Inter"/>
              </a:rPr>
              <a:t>works in 12+ languages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1A1A1A"/>
                </a:solidFill>
                <a:latin typeface="Inter"/>
              </a:rPr>
              <a:t>"Every group chat is a graveyard
of lost files."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B6B6B"/>
                </a:solidFill>
                <a:latin typeface="Inter"/>
              </a:rPr>
              <a:t>2 BILLION WhatsApp users · zero file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PDFs scroll past the timeline. Lab manuals vanish into 200 unread messages.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"Send me that PYQ again?" becomes the daily ritual.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Inter"/>
              </a:rPr>
              <a:t>Drive folders, if they exist at all, are messy and unmaintained.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400" b="1">
                <a:solidFill>
                  <a:srgbClr val="1A1A1A"/>
                </a:solidFill>
                <a:latin typeface="Inter"/>
              </a:rPr>
              <a:t>No one has time to file every PDF by hand. So no one does.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WHAT REYNA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Drop a file. Five agents take it from there.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Two user actions. Five autonomous agents. Zero commands to learn.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" y="310896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043" y="32735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043" y="35204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043" y="397764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Auto-track
or 📌 reaction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89707" y="3794760"/>
            <a:ext cx="146304" cy="182880"/>
          </a:xfrm>
          <a:prstGeom prst="rightArrow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5155" y="310896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8035" y="32735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8035" y="35204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035" y="397764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Read inside
PDF / DOCX / PPTX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1699" y="3794760"/>
            <a:ext cx="146304" cy="182880"/>
          </a:xfrm>
          <a:prstGeom prst="rightArrow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7147" y="310896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0027" y="32735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0027" y="35204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0027" y="397764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Gemini picks
the right folder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3691" y="3794760"/>
            <a:ext cx="146304" cy="182880"/>
          </a:xfrm>
          <a:prstGeom prst="rightArrow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89139" y="310896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2019" y="32735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2019" y="35204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Stage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2019" y="397764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24h auto-commit
or push now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55683" y="3794760"/>
            <a:ext cx="146304" cy="182880"/>
          </a:xfrm>
          <a:prstGeom prst="rightArrow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11131" y="3108960"/>
            <a:ext cx="2057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4011" y="327355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4011" y="352044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4011" y="397764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Push to Drive
version-tracked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5D366"/>
                </a:solidFill>
                <a:latin typeface="Inter"/>
              </a:rPr>
              <a:t>→ The user does nothing differently. Reyna does everything.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B6B6B"/>
                </a:solidFill>
                <a:latin typeface="Inter"/>
              </a:rPr>
              <a:t>TWO CAPTURE PATHS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59436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E6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1D9E75"/>
                </a:solidFill>
                <a:latin typeface="Inter"/>
              </a:rPr>
              <a:t>auto-track  · every 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943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D85A30"/>
                </a:solidFill>
                <a:latin typeface="Inter"/>
              </a:rPr>
              <a:t>📌 reaction · pin-only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03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★ KILLER FEATURE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Conversational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Not keyword search. Reyna parses any natural sentence into WHO / WHAT / WHEN /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07208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"What did Rakesh share about Wien bridge oscillators last week?"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43600" y="3520440"/>
            <a:ext cx="274320" cy="274320"/>
          </a:xfrm>
          <a:prstGeom prst="downArrow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327" y="393192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2327" y="3931920"/>
            <a:ext cx="2514600" cy="54864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207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5A30"/>
                </a:solidFill>
                <a:latin typeface="Inter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Rakesh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sender filter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9807" y="393192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9807" y="3931920"/>
            <a:ext cx="2514600" cy="54864"/>
          </a:xfrm>
          <a:prstGeom prst="rect">
            <a:avLst/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2687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7F77DD"/>
                </a:solidFill>
                <a:latin typeface="Inter"/>
              </a:rPr>
              <a:t>WHAT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2687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wien bridge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687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content + filename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393192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D9E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3931920"/>
            <a:ext cx="2514600" cy="54864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1D9E75"/>
                </a:solidFill>
                <a:latin typeface="Inter"/>
              </a:rPr>
              <a:t>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last 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0167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time window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4767" y="3931920"/>
            <a:ext cx="251460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A75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84767" y="3931920"/>
            <a:ext cx="2514600" cy="54864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7647" y="41148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BA7517"/>
                </a:solidFill>
                <a:latin typeface="Inter"/>
              </a:rPr>
              <a:t>WHY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7647" y="43891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1A1A1A"/>
                </a:solidFill>
                <a:latin typeface="Inter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7647" y="48920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6B6B"/>
                </a:solidFill>
                <a:latin typeface="Inter"/>
              </a:rPr>
              <a:t>intent: find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Multilingual: English · Hindi · Hinglish · Bhojpuri · Tamil · Bengali · Marathi · Kannada · Telugu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1A1A1A"/>
                </a:solidFill>
                <a:latin typeface="Inter"/>
              </a:rPr>
              <a:t>No prefix. No "reyna" trigger. The system understands intent from any phrasing.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04 / 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★ KILLER FEATURE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Autonomous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Reyna reads INSIDE every file before deciding where it belongs.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676656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EXAMPLE  ·  Module3_Compiler_Design_Unit2.pdf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64008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1.  Shared in CSE-2026 group · auto-tracked instantly.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Inter"/>
              </a:rPr>
              <a:t>2.  Extracted: 42 pages on syntax analysis, parsing tables, LL(1) grammars.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Inter"/>
              </a:rPr>
              <a:t>3.  Gemini receives content + filename + sender + timestamp + folder list: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6B"/>
                </a:solidFill>
                <a:latin typeface="Menlo"/>
              </a:rPr>
              <a:t>     📁 Reyna/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6B"/>
                </a:solidFill>
                <a:latin typeface="Menlo"/>
              </a:rPr>
              <a:t>       📁 DSA/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25D366"/>
                </a:solidFill>
                <a:latin typeface="Menlo"/>
              </a:rPr>
              <a:t>       📁 Compiler Design/   ← best match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6B"/>
                </a:solidFill>
                <a:latin typeface="Menlo"/>
              </a:rPr>
              <a:t>       📁 Operating Systems/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B6B6B"/>
                </a:solidFill>
                <a:latin typeface="Menlo"/>
              </a:rPr>
              <a:t>       📁 DBMS/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>
                <a:solidFill>
                  <a:srgbClr val="1A1A1A"/>
                </a:solidFill>
                <a:latin typeface="Inter"/>
              </a:rPr>
              <a:t>4.  Staged · 24h auto-commit countdown.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1200" b="0">
                <a:solidFill>
                  <a:srgbClr val="1A1A1A"/>
                </a:solidFill>
                <a:latin typeface="Inter"/>
              </a:rPr>
              <a:t>5.  Synced to Drive · v2 if a re-upload changes one byte.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560320"/>
            <a:ext cx="384048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2697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FOLDER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004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9E75"/>
                </a:solidFill>
                <a:latin typeface="Inter"/>
              </a:rPr>
              <a:t>1st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200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User folders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566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always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1605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F77DD"/>
                </a:solidFill>
                <a:latin typeface="Inter"/>
              </a:rPr>
              <a:t>2nd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160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Reyna folders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5262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from past classifications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A7517"/>
                </a:solidFill>
                <a:latin typeface="Inter"/>
              </a:rPr>
              <a:t>3rd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1A1A"/>
                </a:solidFill>
                <a:latin typeface="Inter"/>
              </a:rPr>
              <a:t>New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only when nothing 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B6B6B"/>
                </a:solidFill>
                <a:latin typeface="Inter"/>
              </a:rPr>
              <a:t>Hash dedup · Folder snap · Versioned re-uploads · Sender + time as classification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05 /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★ KILLER FEATURE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1A1A"/>
                </a:solidFill>
                <a:latin typeface="Inter"/>
              </a:rPr>
              <a:t>Notes Q&amp;A — multi-turn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6B6B"/>
                </a:solidFill>
                <a:latin typeface="Inter"/>
              </a:rPr>
              <a:t>Ask anything from your shared notes. Refine until it makes sense. In any language.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606040"/>
            <a:ext cx="6217920" cy="502920"/>
          </a:xfrm>
          <a:prstGeom prst="roundRect">
            <a:avLst>
              <a:gd name="adj" fmla="val 12000"/>
            </a:avLst>
          </a:prstGeom>
          <a:solidFill>
            <a:srgbClr val="E6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269748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"explain wien bridge oscillator from mohit's pdf"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20040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25D366"/>
                </a:solidFill>
                <a:latin typeface="Inter"/>
              </a:rPr>
              <a:t>👑  Reyna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2044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According to hii.pdf shared by Mohit Singh this morning, a Wien bridge oscillator uses a lead-lag RC network arranged in a Wien bridge layout to produce zero phase shift at one resonant frequency...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297680"/>
            <a:ext cx="4389120" cy="502920"/>
          </a:xfrm>
          <a:prstGeom prst="roundRect">
            <a:avLst>
              <a:gd name="adj" fmla="val 12000"/>
            </a:avLst>
          </a:prstGeom>
          <a:solidFill>
            <a:srgbClr val="E6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3891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"in simpler words. and the formula?"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892040"/>
            <a:ext cx="6217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4983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25D366"/>
                </a:solidFill>
                <a:latin typeface="Inter"/>
              </a:rPr>
              <a:t>👑  Reyna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1208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1A"/>
                </a:solidFill>
                <a:latin typeface="Inter"/>
              </a:rPr>
              <a:t>Sure — it's a simple AC oscillator that picks one specific frequency to vibrate at. The formula is f = 1 / (2π·R·C), straight from the same PDF (page 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>
                <a:solidFill>
                  <a:srgbClr val="6B6B6B"/>
                </a:solidFill>
                <a:latin typeface="Inter"/>
              </a:rPr>
              <a:t>AVAILABLE EVERYWHERE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635508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6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1D9E75"/>
                </a:solidFill>
                <a:latin typeface="Inter"/>
              </a:rPr>
              <a:t>🖥  Dashboard chat thread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6355080"/>
            <a:ext cx="2423160" cy="310896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D85A30"/>
                </a:solidFill>
                <a:latin typeface="Inter"/>
              </a:rPr>
              <a:t>💬  WhatsApp DM follow-ups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06 /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FULL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Inter"/>
              </a:rPr>
              <a:t>WhatsApp → Go backend → Gemini → Drive → React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777240"/>
          </a:xfrm>
          <a:prstGeom prst="roundRect">
            <a:avLst>
              <a:gd name="adj" fmla="val 12000"/>
            </a:avLst>
          </a:prstGeom>
          <a:solidFill>
            <a:srgbClr val="E6F8E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WhatsApp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Group chats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Baileys (Node)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02996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Auto-track / 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029968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Wake-word DM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10911535" cy="777240"/>
          </a:xfrm>
          <a:prstGeom prst="roundRect">
            <a:avLst>
              <a:gd name="adj" fmla="val 12000"/>
            </a:avLst>
          </a:prstGeom>
          <a:solidFill>
            <a:srgbClr val="EFED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Go backend — agentic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8529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Content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852928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AI classification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3820" y="2852928"/>
            <a:ext cx="15773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Folder snap + dedup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85292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NLP query resolver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10911535" cy="777240"/>
          </a:xfrm>
          <a:prstGeom prst="roundRect">
            <a:avLst>
              <a:gd name="adj" fmla="val 12000"/>
            </a:avLst>
          </a:prstGeom>
          <a:solidFill>
            <a:srgbClr val="FFF3E0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844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Data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675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SQLite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75888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File metadata + hash 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67588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Group settings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675888"/>
            <a:ext cx="15773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JWT auth + sessions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97680"/>
            <a:ext cx="10911535" cy="777240"/>
          </a:xfrm>
          <a:prstGeom prst="roundRect">
            <a:avLst>
              <a:gd name="adj" fmla="val 12000"/>
            </a:avLst>
          </a:prstGeom>
          <a:solidFill>
            <a:srgbClr val="FDE7DD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074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49884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Gemini 2.5 Flash (paid tier)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498848"/>
            <a:ext cx="240029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Google Drive API + public links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9739" y="4498848"/>
            <a:ext cx="452627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Provider-agnostic LLM iface (Claude / Grok / OpenAI swappable)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120640"/>
            <a:ext cx="10911535" cy="777240"/>
          </a:xfrm>
          <a:prstGeom prst="roundRect">
            <a:avLst>
              <a:gd name="adj" fmla="val 12000"/>
            </a:avLst>
          </a:prstGeom>
          <a:solidFill>
            <a:srgbClr val="E6F8EC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303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1A1A"/>
                </a:solidFill>
                <a:latin typeface="Inter"/>
              </a:rPr>
              <a:t>React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321808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Files browser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32180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Search · NLP retrieval · Q&amp;A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5321808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Drive tree (live)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61220" y="5321808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900" b="1">
                <a:solidFill>
                  <a:srgbClr val="1A1A1A"/>
                </a:solidFill>
                <a:latin typeface="Inter"/>
              </a:rPr>
              <a:t>Group settings + analytics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07 / 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WHAT'S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Implementation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44068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D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828800"/>
            <a:ext cx="544068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F7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D366"/>
                </a:solidFill>
                <a:latin typeface="Inter"/>
              </a:rPr>
              <a:t>✓ 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7F77DD"/>
                </a:solidFill>
                <a:latin typeface="Inter"/>
              </a:rPr>
              <a:t>★  KILLER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983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WhatsApp bot (Baileys)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Two tracking modes — auto + 📌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Google Drive OAuth + public links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Staging engine + 24h auto-commit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Live search + autocomplete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Subject analytics + top contributors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Re-upload detection (v1 / v2 / v3)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React dashboard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JWT auth + waitlist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•  Hash-based dedup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983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Conversational NLP retrieval (W/W/W/W)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Content-aware classification (PDF/DOCX/PPTX/XLSX)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Folder priority logic (user → reyna → new)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Folder-snap fuzzy match (no duplicate folders)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Multi-turn Q&amp;A with follow-ups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Multilingual end-to-end (12+ languages)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WhatsApp DM personal assistant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Wake-word + session continuation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Sender + time as classification signals</a:t>
            </a:r>
          </a:p>
          <a:p>
            <a:pPr algn="l">
              <a:lnSpc>
                <a:spcPct val="170000"/>
              </a:lnSpc>
            </a:pPr>
            <a:r>
              <a:rPr sz="1200" b="0">
                <a:solidFill>
                  <a:srgbClr val="1A1A1A"/>
                </a:solidFill>
                <a:latin typeface="Inter"/>
              </a:rPr>
              <a:t>★  Deep content search (Gemini reads each candidate)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08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Built with the boring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6B"/>
                </a:solidFill>
                <a:latin typeface="Inter"/>
              </a:rPr>
              <a:t>Real production tools — no demoware. Provider-agnostic where it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9728" cy="777240"/>
          </a:xfrm>
          <a:prstGeom prst="rect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D9E75"/>
                </a:solidFill>
                <a:latin typeface="Inter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54203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Go · SQLite · stdlib HTTP · zero ORM. Fast, single binary, no surprises.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9184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109728" cy="777240"/>
          </a:xfrm>
          <a:prstGeom prst="rect">
            <a:avLst/>
          </a:prstGeom>
          <a:solidFill>
            <a:srgbClr val="7F7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F77DD"/>
                </a:solidFill>
                <a:latin typeface="Inter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41071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Gemini 2.5 Flash (paid tier · Files API + inline doc blocks). Provider-agnostic interface — Claude / Grok / OpenAI swappable via env var.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60520"/>
            <a:ext cx="109728" cy="777240"/>
          </a:xfrm>
          <a:prstGeom prst="rect">
            <a:avLst/>
          </a:prstGeom>
          <a:solidFill>
            <a:srgbClr val="BA7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939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A7517"/>
                </a:solidFill>
                <a:latin typeface="Inter"/>
              </a:rPr>
              <a:t>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27939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Google Drive API v3 with OAuth 2.0. Auto-public links. Folder tree CRUD. Eventual-consistency-aware classification.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109728" cy="777240"/>
          </a:xfrm>
          <a:prstGeom prst="rect">
            <a:avLst/>
          </a:prstGeom>
          <a:solidFill>
            <a:srgbClr val="D8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4807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85A30"/>
                </a:solidFill>
                <a:latin typeface="Inter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14807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React + Vite. No component library — hand-rolled in 1.2k lines. Markdown rendering, conversational chat thread, auto-grow textareas.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9788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897880"/>
            <a:ext cx="109728" cy="777240"/>
          </a:xfrm>
          <a:prstGeom prst="rect">
            <a:avLst/>
          </a:prstGeom>
          <a:solidFill>
            <a:srgbClr val="25D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0167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5D366"/>
                </a:solidFill>
                <a:latin typeface="Inter"/>
              </a:rPr>
              <a:t>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6016752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A1A1A"/>
                </a:solidFill>
                <a:latin typeface="Inter"/>
              </a:rPr>
              <a:t>Node.js + Baileys (@whiskeysockets/baileys). WhatsApp Web protocol. Wake-word + session continuation. Per-DM context store.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09 / 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WHAT YOU'LL SEE IN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1A1A1A"/>
                </a:solidFill>
                <a:latin typeface="Inter"/>
              </a:rPr>
              <a:t>Two minutes. Three killer moments.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6567" y="182880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887" y="210312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E6F8EC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3840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Inter"/>
              </a:rPr>
              <a:t>Drop a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887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Classmate shares a PPTX in WhatsApp.
Reyna reads it, classifies it, stages it.
No commands. No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047" y="182880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367" y="210312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E6F8EC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367" y="3840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Inter"/>
              </a:rPr>
              <a:t>Ask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367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Open WhatsApp DM with Reyna.
"Reyna explain wien bridge oscillator"
→ real answer from the actual file, with citation.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527" y="1828800"/>
            <a:ext cx="3657600" cy="4206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1847" y="2103120"/>
            <a:ext cx="1828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E6F8EC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384048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A1A1A"/>
                </a:solidFill>
                <a:latin typeface="Inter"/>
              </a:rPr>
              <a:t>Refine &amp; 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847" y="45262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6B6B6B"/>
                </a:solidFill>
                <a:latin typeface="Inter"/>
              </a:rPr>
              <a:t>"In simpler words"  →  refined answer.
"Send me the file"  →  Drive link drops in chat.
Follow-ups in any language.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D366"/>
                </a:solidFill>
                <a:latin typeface="Inter"/>
              </a:rPr>
              <a:t>After the pitch: keep talking to Reyna in WhatsApp from any device. It just 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B6B6B"/>
                </a:solidFill>
                <a:latin typeface="Inter"/>
              </a:rPr>
              <a:t>10 /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1A1A1A"/>
                </a:solidFill>
                <a:latin typeface="Inter"/>
              </a:rPr>
              <a:t>Your files deserve better
than vanishing into chat history.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6B6B"/>
                </a:solidFill>
                <a:latin typeface="Inter"/>
              </a:rPr>
              <a:t>Reyna · zero commands · zero training · works in your group right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029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E9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7F77DD"/>
                </a:solidFill>
                <a:latin typeface="Inter"/>
              </a:rPr>
              <a:t>agentic AI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50292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E6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1D9E75"/>
                </a:solidFill>
                <a:latin typeface="Inter"/>
              </a:rPr>
              <a:t>multi-language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0292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D85A30"/>
                </a:solidFill>
                <a:latin typeface="Inter"/>
              </a:rPr>
              <a:t>WhatsApp +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502920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FEE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0" bIns="0" wrap="none"/>
          <a:lstStyle/>
          <a:p>
            <a:pPr algn="ctr"/>
            <a:r>
              <a:rPr sz="1000" b="1">
                <a:solidFill>
                  <a:srgbClr val="BA7517"/>
                </a:solidFill>
                <a:latin typeface="Inter"/>
              </a:rPr>
              <a:t>Google Drive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25D366"/>
                </a:solidFill>
                <a:latin typeface="Inter"/>
              </a:rPr>
              <a:t>reyna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